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-600" y="-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194560" cy="2194560"/>
          </a:xfrm>
          <a:prstGeom prst="ellipse">
            <a:avLst/>
          </a:prstGeom>
          <a:solidFill>
            <a:srgbClr val="6A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18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5212080"/>
            <a:ext cx="1645920" cy="1645920"/>
          </a:xfrm>
          <a:prstGeom prst="ellipse">
            <a:avLst/>
          </a:prstGeom>
          <a:solidFill>
            <a:srgbClr val="21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109728" cy="4480560"/>
          </a:xfrm>
          <a:prstGeom prst="rect">
            <a:avLst/>
          </a:prstGeom>
          <a:solidFill>
            <a:srgbClr val="2BD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1143000"/>
            <a:ext cx="5745484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5F8FF"/>
                </a:solidFill>
                <a:latin typeface="Aptos Display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SALES PERFORMANCE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>AND REVENUE ANALYSIS</a:t>
            </a:r>
          </a:p>
          <a:p>
            <a:pPr>
              <a:defRPr sz="1900">
                <a:solidFill>
                  <a:srgbClr val="2BDAF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Interactive Power BI Dashboard Project</a:t>
            </a:r>
          </a:p>
          <a:p>
            <a:pPr>
              <a:defRPr sz="1300">
                <a:solidFill>
                  <a:srgbClr val="B4C0DC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Data-driven view of sales, revenue, orders, channels, regions and payment 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4069080"/>
            <a:ext cx="2240280" cy="114300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16151" y="4206240"/>
            <a:ext cx="1911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TOTAL SALES</a:t>
            </a:r>
          </a:p>
          <a:p>
            <a:pPr>
              <a:defRPr sz="24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717.01M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069080"/>
            <a:ext cx="2240280" cy="114300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85032" y="4206240"/>
            <a:ext cx="1911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TOTAL REVENUE</a:t>
            </a:r>
          </a:p>
          <a:p>
            <a:pPr>
              <a:defRPr sz="24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638.76M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069080"/>
            <a:ext cx="2240280" cy="114300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53912" y="4206240"/>
            <a:ext cx="1911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TOTAL ORDERS</a:t>
            </a:r>
          </a:p>
          <a:p>
            <a:pPr>
              <a:defRPr sz="24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10K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4069080"/>
            <a:ext cx="2240280" cy="114300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2792" y="4206240"/>
            <a:ext cx="1911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TOTAL QUANTITY</a:t>
            </a:r>
          </a:p>
          <a:p>
            <a:pPr>
              <a:defRPr sz="24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35K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0649" y="6565392"/>
            <a:ext cx="20617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0DC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Sales Performance &amp; Revenue Analysis   •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6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194560" cy="2194560"/>
          </a:xfrm>
          <a:prstGeom prst="ellipse">
            <a:avLst/>
          </a:prstGeom>
          <a:solidFill>
            <a:srgbClr val="6A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18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5212080"/>
            <a:ext cx="1645920" cy="1645920"/>
          </a:xfrm>
          <a:prstGeom prst="ellipse">
            <a:avLst/>
          </a:prstGeom>
          <a:solidFill>
            <a:srgbClr val="21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28568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DAF4"/>
                </a:solidFill>
                <a:latin typeface="Times New Roman" pitchFamily="18" charset="0"/>
                <a:cs typeface="Times New Roman" pitchFamily="18" charset="0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25490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Purpose, scope and business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520440" cy="434340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1" y="1463039"/>
            <a:ext cx="31912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PROJECT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PURPOSE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Build an interactive dashboard to understand sales performance and revenue patterns across multiple business dimensions.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34340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07992" y="1463039"/>
            <a:ext cx="319125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BUSINESS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QUESTIONS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• How are sales and revenue performing?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>• Which sales channels contribute most revenue?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>• How do regions and payment methods perform?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>• What order-status patterns are visible?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>• Which products contribute to sales?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520440" cy="434340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11312" y="1463039"/>
            <a:ext cx="319125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ANALYSIS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AREAS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Sales Amount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>Revenue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>Orders &amp; Quantity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>Sales Channel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>Region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>Payment Method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>Product Category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r>
              <a:rPr dirty="0">
                <a:latin typeface="Times New Roman" pitchFamily="18" charset="0"/>
                <a:cs typeface="Times New Roman" pitchFamily="18" charset="0"/>
              </a:rPr>
              <a:t>Order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6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6565392"/>
            <a:ext cx="20617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Sales Performance &amp; Revenue Analysis   •  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194560" cy="2194560"/>
          </a:xfrm>
          <a:prstGeom prst="ellipse">
            <a:avLst/>
          </a:prstGeom>
          <a:solidFill>
            <a:srgbClr val="6A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18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5212080"/>
            <a:ext cx="1645920" cy="1645920"/>
          </a:xfrm>
          <a:prstGeom prst="ellipse">
            <a:avLst/>
          </a:prstGeom>
          <a:solidFill>
            <a:srgbClr val="21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6437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DAF4"/>
                </a:solidFill>
                <a:latin typeface="Times New Roman" pitchFamily="18" charset="0"/>
                <a:cs typeface="Times New Roman" pitchFamily="18" charset="0"/>
              </a:rPr>
              <a:t>Tools &amp; Analytical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33505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From raw data to an interactive business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965960" cy="3200400"/>
          </a:xfrm>
          <a:prstGeom prst="roundRect">
            <a:avLst/>
          </a:prstGeom>
          <a:solidFill>
            <a:srgbClr val="141B3A"/>
          </a:solidFill>
          <a:ln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29968"/>
            <a:ext cx="4924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BDAF4"/>
                </a:solidFill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97480"/>
            <a:ext cx="70269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556" y="3337560"/>
            <a:ext cx="22333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C0DC"/>
                </a:solidFill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Collect and inspect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 sz="1100">
                <a:solidFill>
                  <a:srgbClr val="B4C0DC"/>
                </a:solidFill>
              </a:defRPr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sales/order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3512" y="1828800"/>
            <a:ext cx="1965960" cy="3200400"/>
          </a:xfrm>
          <a:prstGeom prst="roundRect">
            <a:avLst/>
          </a:prstGeom>
          <a:solidFill>
            <a:srgbClr val="141B3A"/>
          </a:solidFill>
          <a:ln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18104" y="2029968"/>
            <a:ext cx="4924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BDAF4"/>
                </a:solidFill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104" y="2697480"/>
            <a:ext cx="85953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4" y="3337560"/>
            <a:ext cx="125547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DC"/>
                </a:solidFill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Prepare fields and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 sz="1100">
                <a:solidFill>
                  <a:srgbClr val="B4C0DC"/>
                </a:solidFill>
              </a:defRPr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handle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data types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1224" y="1828800"/>
            <a:ext cx="1965960" cy="3200400"/>
          </a:xfrm>
          <a:prstGeom prst="roundRect">
            <a:avLst/>
          </a:prstGeom>
          <a:solidFill>
            <a:srgbClr val="141B3A"/>
          </a:solidFill>
          <a:ln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85816" y="2029968"/>
            <a:ext cx="4924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BDAF4"/>
                </a:solidFill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6" y="2697480"/>
            <a:ext cx="91082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5816" y="3337560"/>
            <a:ext cx="160973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DC"/>
                </a:solidFill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Create relationships and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 sz="1100">
                <a:solidFill>
                  <a:srgbClr val="B4C0DC"/>
                </a:solidFill>
              </a:defRPr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analytical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measures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88936" y="1828800"/>
            <a:ext cx="1965960" cy="3200400"/>
          </a:xfrm>
          <a:prstGeom prst="roundRect">
            <a:avLst/>
          </a:prstGeom>
          <a:solidFill>
            <a:srgbClr val="141B3A"/>
          </a:solidFill>
          <a:ln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53527" y="2029968"/>
            <a:ext cx="4924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BDAF4"/>
                </a:solidFill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7" y="2697480"/>
            <a:ext cx="124585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VISUALIZE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7" y="3337560"/>
            <a:ext cx="144462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DC"/>
                </a:solidFill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Build KPIs, charts,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 sz="1100">
                <a:solidFill>
                  <a:srgbClr val="B4C0DC"/>
                </a:solidFill>
              </a:defRPr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sl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icers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and navigation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1828800"/>
            <a:ext cx="1965960" cy="3200400"/>
          </a:xfrm>
          <a:prstGeom prst="roundRect">
            <a:avLst/>
          </a:prstGeom>
          <a:solidFill>
            <a:srgbClr val="141B3A"/>
          </a:solidFill>
          <a:ln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21240" y="2029968"/>
            <a:ext cx="4924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BDAF4"/>
                </a:solidFill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697480"/>
            <a:ext cx="100860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337560"/>
            <a:ext cx="134524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0DC"/>
                </a:solidFill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Interpret patterns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for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 sz="1100">
                <a:solidFill>
                  <a:srgbClr val="B4C0DC"/>
                </a:solidFill>
              </a:defRPr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business reporting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6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792" y="6565392"/>
            <a:ext cx="20617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0DC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Sales Performance &amp; Revenue Analysis   •  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194560" cy="2194560"/>
          </a:xfrm>
          <a:prstGeom prst="ellipse">
            <a:avLst/>
          </a:prstGeom>
          <a:solidFill>
            <a:srgbClr val="6A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18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5212080"/>
            <a:ext cx="1645920" cy="1645920"/>
          </a:xfrm>
          <a:prstGeom prst="ellipse">
            <a:avLst/>
          </a:prstGeom>
          <a:solidFill>
            <a:srgbClr val="21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0142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DAF4"/>
                </a:solidFill>
                <a:latin typeface="Times New Roman" pitchFamily="18" charset="0"/>
                <a:cs typeface="Times New Roman" pitchFamily="18" charset="0"/>
              </a:rPr>
              <a:t>Executive KPI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30091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Headline metrics visible across the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337560" cy="169164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1463039"/>
            <a:ext cx="300837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TOTAL SALES</a:t>
            </a:r>
          </a:p>
          <a:p>
            <a:pPr>
              <a:defRPr sz="24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717.01M</a:t>
            </a: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Sum of Sales 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169164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99431" y="1463039"/>
            <a:ext cx="300837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TOTAL REVENUE</a:t>
            </a:r>
          </a:p>
          <a:p>
            <a:pPr>
              <a:defRPr sz="24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638.76M</a:t>
            </a: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Sum of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3337560" cy="169164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48471" y="1463039"/>
            <a:ext cx="300837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TOTAL ORDERS</a:t>
            </a:r>
          </a:p>
          <a:p>
            <a:pPr>
              <a:defRPr sz="24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10K</a:t>
            </a: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Count of orders / order status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3337560" cy="169164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0392" y="3611879"/>
            <a:ext cx="300837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TOTAL QUANTITY</a:t>
            </a:r>
          </a:p>
          <a:p>
            <a:pPr>
              <a:defRPr sz="24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35K</a:t>
            </a: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Sum of Quantity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474720"/>
            <a:ext cx="3337560" cy="169164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9431" y="3611879"/>
            <a:ext cx="300837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TOTAL UNIT PRICE</a:t>
            </a:r>
          </a:p>
          <a:p>
            <a:pPr>
              <a:defRPr sz="24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216.26M</a:t>
            </a: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Sum of Unit Price shown in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474720"/>
            <a:ext cx="3337560" cy="169164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48471" y="3611879"/>
            <a:ext cx="300837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COMPLETED ORDERS</a:t>
            </a:r>
          </a:p>
          <a:p>
            <a:pPr>
              <a:defRPr sz="24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8.6K</a:t>
            </a: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Order status 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6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1792" y="6565392"/>
            <a:ext cx="20617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Sales Performance &amp; Revenue Analysis   •  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194560" cy="2194560"/>
          </a:xfrm>
          <a:prstGeom prst="ellipse">
            <a:avLst/>
          </a:prstGeom>
          <a:solidFill>
            <a:srgbClr val="6A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18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5212080"/>
            <a:ext cx="1645920" cy="1645920"/>
          </a:xfrm>
          <a:prstGeom prst="ellipse">
            <a:avLst/>
          </a:prstGeom>
          <a:solidFill>
            <a:srgbClr val="21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63973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DAF4"/>
                </a:solidFill>
                <a:latin typeface="Times New Roman" pitchFamily="18" charset="0"/>
                <a:cs typeface="Times New Roman" pitchFamily="18" charset="0"/>
              </a:rPr>
              <a:t>Dashboard View 1 — Sales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51235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Core KPIs, monthly revenue, product mix, payment methods and sales channels</a:t>
            </a:r>
          </a:p>
        </p:txBody>
      </p:sp>
      <p:pic>
        <p:nvPicPr>
          <p:cNvPr id="7" name="Picture 6" descr="image 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10391503" cy="43760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6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" y="6565392"/>
            <a:ext cx="20617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Sales Performance &amp; Revenue Analysis   •   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194560" cy="2194560"/>
          </a:xfrm>
          <a:prstGeom prst="ellipse">
            <a:avLst/>
          </a:prstGeom>
          <a:solidFill>
            <a:srgbClr val="6A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18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5212080"/>
            <a:ext cx="1645920" cy="1645920"/>
          </a:xfrm>
          <a:prstGeom prst="ellipse">
            <a:avLst/>
          </a:prstGeom>
          <a:solidFill>
            <a:srgbClr val="21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8346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DAF4"/>
                </a:solidFill>
                <a:latin typeface="Times New Roman" pitchFamily="18" charset="0"/>
                <a:cs typeface="Times New Roman" pitchFamily="18" charset="0"/>
              </a:rPr>
              <a:t>Dashboard View 2 — Orders &amp; Regional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40158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Order status, region revenue and payment method distribution</a:t>
            </a:r>
          </a:p>
        </p:txBody>
      </p:sp>
      <p:pic>
        <p:nvPicPr>
          <p:cNvPr id="7" name="Picture 6" descr="image 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6" y="1298448"/>
            <a:ext cx="10110651" cy="46451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6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" y="6565392"/>
            <a:ext cx="20617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Sales Performance &amp; Revenue Analysis   •  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194560" cy="2194560"/>
          </a:xfrm>
          <a:prstGeom prst="ellipse">
            <a:avLst/>
          </a:prstGeom>
          <a:solidFill>
            <a:srgbClr val="6A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18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5212080"/>
            <a:ext cx="1645920" cy="1645920"/>
          </a:xfrm>
          <a:prstGeom prst="ellipse">
            <a:avLst/>
          </a:prstGeom>
          <a:solidFill>
            <a:srgbClr val="21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0975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DAF4"/>
                </a:solidFill>
                <a:latin typeface="Times New Roman" pitchFamily="18" charset="0"/>
                <a:cs typeface="Times New Roman" pitchFamily="18" charset="0"/>
              </a:rPr>
              <a:t>Dashboard View 3 — Channel &amp; Category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50529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Sales channel performance, category distribution and detailed transaction view</a:t>
            </a:r>
          </a:p>
        </p:txBody>
      </p:sp>
      <p:pic>
        <p:nvPicPr>
          <p:cNvPr id="7" name="Picture 6" descr="image 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98448"/>
            <a:ext cx="10143309" cy="481496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6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" y="6565392"/>
            <a:ext cx="20617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Sales Performance &amp; Revenue Analysis   •  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194560" cy="2194560"/>
          </a:xfrm>
          <a:prstGeom prst="ellipse">
            <a:avLst/>
          </a:prstGeom>
          <a:solidFill>
            <a:srgbClr val="6A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18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5212080"/>
            <a:ext cx="1645920" cy="1645920"/>
          </a:xfrm>
          <a:prstGeom prst="ellipse">
            <a:avLst/>
          </a:prstGeom>
          <a:solidFill>
            <a:srgbClr val="21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8971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DAF4"/>
                </a:solidFill>
                <a:latin typeface="Times New Roman" pitchFamily="18" charset="0"/>
                <a:cs typeface="Times New Roman" pitchFamily="18" charset="0"/>
              </a:rPr>
              <a:t>Dashboard View 4 — Revenue &amp; Method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487986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Revenue by sales channel with supporting sales and revenue method visuals</a:t>
            </a:r>
          </a:p>
        </p:txBody>
      </p:sp>
      <p:pic>
        <p:nvPicPr>
          <p:cNvPr id="7" name="Picture 6" descr="image 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090" y="1502229"/>
            <a:ext cx="9771019" cy="432380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6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" y="6565392"/>
            <a:ext cx="20617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Sales Performance &amp; Revenue Analysis   •  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194560" cy="2194560"/>
          </a:xfrm>
          <a:prstGeom prst="ellipse">
            <a:avLst/>
          </a:prstGeom>
          <a:solidFill>
            <a:srgbClr val="6A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18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5212080"/>
            <a:ext cx="1645920" cy="1645920"/>
          </a:xfrm>
          <a:prstGeom prst="ellipse">
            <a:avLst/>
          </a:prstGeom>
          <a:solidFill>
            <a:srgbClr val="21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4889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DAF4"/>
                </a:solidFill>
                <a:latin typeface="Times New Roman" pitchFamily="18" charset="0"/>
                <a:cs typeface="Times New Roman" pitchFamily="18" charset="0"/>
              </a:rPr>
              <a:t>Dashboard View 5 — Channel, Region &amp;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517000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Combined view of revenue, regional sales and category-by-channel performance</a:t>
            </a:r>
          </a:p>
        </p:txBody>
      </p:sp>
      <p:pic>
        <p:nvPicPr>
          <p:cNvPr id="7" name="Picture 6" descr="image 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98448"/>
            <a:ext cx="10260874" cy="48280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6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" y="6565392"/>
            <a:ext cx="20617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Sales Performance &amp; Revenue Analysis   •  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194560" cy="2194560"/>
          </a:xfrm>
          <a:prstGeom prst="ellipse">
            <a:avLst/>
          </a:prstGeom>
          <a:solidFill>
            <a:srgbClr val="6A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18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5212080"/>
            <a:ext cx="1645920" cy="1645920"/>
          </a:xfrm>
          <a:prstGeom prst="ellipse">
            <a:avLst/>
          </a:prstGeom>
          <a:solidFill>
            <a:srgbClr val="21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9724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DAF4"/>
                </a:solidFill>
                <a:latin typeface="Times New Roman" pitchFamily="18" charset="0"/>
                <a:cs typeface="Times New Roman" pitchFamily="18" charset="0"/>
              </a:rPr>
              <a:t>Dashboard View 6 — Payment &amp; Product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533832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Payment method contribution, product sales distribution and supporting detail table</a:t>
            </a:r>
          </a:p>
        </p:txBody>
      </p:sp>
      <p:pic>
        <p:nvPicPr>
          <p:cNvPr id="7" name="Picture 6" descr="image 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98447"/>
            <a:ext cx="10234749" cy="49847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6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" y="6565392"/>
            <a:ext cx="211307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Sales Performance &amp; Revenue Analysis   •  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194560" cy="2194560"/>
          </a:xfrm>
          <a:prstGeom prst="ellipse">
            <a:avLst/>
          </a:prstGeom>
          <a:solidFill>
            <a:srgbClr val="6A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18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5212080"/>
            <a:ext cx="1645920" cy="1645920"/>
          </a:xfrm>
          <a:prstGeom prst="ellipse">
            <a:avLst/>
          </a:prstGeom>
          <a:solidFill>
            <a:srgbClr val="21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53078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DAF4"/>
                </a:solidFill>
                <a:latin typeface="Times New Roman" pitchFamily="18" charset="0"/>
                <a:cs typeface="Times New Roman" pitchFamily="18" charset="0"/>
              </a:rPr>
              <a:t>Key Insights from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39709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Selected observations directly visible in the presented visuals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166360" cy="132588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1371600"/>
            <a:ext cx="48371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Revenue</a:t>
            </a: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The dashboard reports total revenue of 638.76M and total sales of 717.01M.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166360" cy="132588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48371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Sales Channel</a:t>
            </a: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Online contributes about 217M in revenue, followed by Retail Store at about 163M.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5166360" cy="132588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392" y="2971800"/>
            <a:ext cx="4837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Region</a:t>
            </a: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The regional chart shows South at about 263.15M revenue, followed by West at about 113.19M.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834640"/>
            <a:ext cx="5166360" cy="132588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82512" y="2971800"/>
            <a:ext cx="48371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Payment</a:t>
            </a: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UPI shows about 171M in sales amount, followed by Card at about 163M.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166360" cy="132588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392" y="4572000"/>
            <a:ext cx="4837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Order Status</a:t>
            </a: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Completed orders are shown at about 8.6K, with smaller cancelled, returned and pending counts.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34840"/>
            <a:ext cx="5166360" cy="132588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2512" y="4572000"/>
            <a:ext cx="4837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Product Mix</a:t>
            </a:r>
          </a:p>
          <a:p>
            <a:pPr>
              <a:defRPr sz="10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The product donut shows Smartphone as the largest displayed product segment at about 1.66K.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6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1792" y="6565392"/>
            <a:ext cx="211307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Sales Performance &amp; Revenue Analysis   •  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194560" cy="2194560"/>
          </a:xfrm>
          <a:prstGeom prst="ellipse">
            <a:avLst/>
          </a:prstGeom>
          <a:solidFill>
            <a:srgbClr val="6A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18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5212080"/>
            <a:ext cx="1645920" cy="1645920"/>
          </a:xfrm>
          <a:prstGeom prst="ellipse">
            <a:avLst/>
          </a:prstGeom>
          <a:solidFill>
            <a:srgbClr val="21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6448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DAF4"/>
                </a:solidFill>
                <a:latin typeface="Times New Roman" pitchFamily="18" charset="0"/>
                <a:cs typeface="Times New Roman" pitchFamily="18" charset="0"/>
              </a:rPr>
              <a:t>Conclusion &amp; 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328808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How the dashboard supports data-driven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6400800" cy="30982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Converts sales data into an interactive and easy-to-read reporting layer.</a:t>
            </a:r>
          </a:p>
          <a:p>
            <a:pPr>
              <a:spcAft>
                <a:spcPts val="10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Brings KPIs, revenue, orders, channels, regions, products and payment methods into one view.</a:t>
            </a:r>
          </a:p>
          <a:p>
            <a:pPr>
              <a:spcAft>
                <a:spcPts val="10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Makes it easier to compare performance across business dimensions.</a:t>
            </a:r>
          </a:p>
          <a:p>
            <a:pPr>
              <a:spcAft>
                <a:spcPts val="10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Supports faster identification of sales patterns and operational trends.</a:t>
            </a:r>
          </a:p>
          <a:p>
            <a:pPr>
              <a:spcAft>
                <a:spcPts val="10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Provides a reusable dashboard structure for future data updates and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508760"/>
            <a:ext cx="3383280" cy="137160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82712" y="1645919"/>
            <a:ext cx="3054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POWER BI</a:t>
            </a:r>
          </a:p>
          <a:p>
            <a:pPr>
              <a:defRPr sz="24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Interactive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154680"/>
            <a:ext cx="3383280" cy="137160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82712" y="3291840"/>
            <a:ext cx="3054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ANALYTICS</a:t>
            </a:r>
          </a:p>
          <a:p>
            <a:pPr>
              <a:defRPr sz="24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Data-driven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800600"/>
            <a:ext cx="3383280" cy="1371600"/>
          </a:xfrm>
          <a:prstGeom prst="roundRect">
            <a:avLst/>
          </a:prstGeom>
          <a:solidFill>
            <a:srgbClr val="141B3A"/>
          </a:solidFill>
          <a:ln w="15240">
            <a:solidFill>
              <a:srgbClr val="35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82712" y="4937760"/>
            <a:ext cx="3054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REPORTING</a:t>
            </a:r>
          </a:p>
          <a:p>
            <a:pPr>
              <a:defRPr sz="24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Decision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6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6565392"/>
            <a:ext cx="211307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Sales Performance &amp; Revenue Analysis   •  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194560" cy="2194560"/>
          </a:xfrm>
          <a:prstGeom prst="ellipse">
            <a:avLst/>
          </a:prstGeom>
          <a:solidFill>
            <a:srgbClr val="6A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185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607040" y="5212080"/>
            <a:ext cx="1645920" cy="1645920"/>
          </a:xfrm>
          <a:prstGeom prst="ellipse">
            <a:avLst/>
          </a:prstGeom>
          <a:solidFill>
            <a:srgbClr val="21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23800" y="2057400"/>
            <a:ext cx="331392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BDAF4"/>
                </a:solidFill>
                <a:latin typeface="Aptos Display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71203" y="3383280"/>
            <a:ext cx="401911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5F8FF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Sales Performance and Revenue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2235" y="4114800"/>
            <a:ext cx="20970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C0D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Power BI Dashboard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562</Words>
  <Application>Microsoft Office PowerPoint</Application>
  <PresentationFormat>Custom</PresentationFormat>
  <Paragraphs>118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Akshaya Akshu</dc:creator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2026-09-24T06:36:07Z</dcterms:modified>
</cp:coreProperties>
</file>